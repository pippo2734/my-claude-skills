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Meiryo"/>
              </a:defRPr>
            </a:pPr>
            <a:r>
              <a:t>RURA 12月拡大クラブ</a:t>
            </a:r>
            <a:br/>
            <a:r>
              <a:t>導入1ヶ月フォローアップMTG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  <a:latin typeface="Meiryo"/>
              </a:defRPr>
            </a:pPr>
            <a:r>
              <a:t>運用状況の確認と標準化に向けたステップ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1. 本MTGの位置付け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11887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コンセプト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共創スタンスでの情報共有・意見交換の場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1247120" cy="11887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目的① STEP0の細分化・確認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キックオフ時の内容を実運用レベルで再確認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11247120" cy="11887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目的②「クラブの声を聴く会」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7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現場の課題や要望を吸い上げる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11247120" cy="11887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目的③ 標準とフィードバック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7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本部の標準オペレーション提示と、現場からのFBを両輪で回す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2. 本日のゴール（終了時の状態）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2011680"/>
          </a:xfrm>
          <a:prstGeom prst="round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「2月の行動計画（シフト修正案含む）」が提出され、</a:t>
            </a:r>
            <a:br/>
            <a:r>
              <a:t>コミットメントが得られている状態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シフト適正化の履行：「適正シフト」の定義を理解し、次月以降の作成フロー変更を合意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標準ルールの適用：統一ルール（1/15決定事項）の認識ズレを解消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3. 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43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RURA導入ステップ（STEP0）の確認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57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標準オペレーションの徹底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現場運用の確認事項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1363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86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帳票格納ルールの標準化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2803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00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クラブの声を聴く会・質疑応答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2286000" cy="228600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5603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Meiryo"/>
              </a:defRPr>
            </a:pPr>
            <a:r>
              <a:t>RURA導入ステップ</a:t>
            </a:r>
            <a:br/>
            <a:r>
              <a:t>（STEP0）の確認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【1】RURA導入ステップ（STEP0）の確認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11887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テーマ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運用の土台となる「誘導」と「時間の使い方」についての認識合わせ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1247120" cy="1188720"/>
          </a:xfrm>
          <a:prstGeom prst="roundRect">
            <a:avLst/>
          </a:prstGeom>
          <a:solidFill>
            <a:srgbClr val="FFE6E6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ポイント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キックオフ時のSTEP0をより解像度を上げて確認します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1-1. 誘導率の振り返り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5303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1E1E"/>
                </a:solidFill>
                <a:latin typeface="Meiryo"/>
              </a:defRPr>
            </a:pPr>
            <a:r>
              <a:t>現状共有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• 12月誘導率の実績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• 1月誘導率の進捗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486400" cy="5303520"/>
          </a:xfrm>
          <a:prstGeom prst="roundRect">
            <a:avLst/>
          </a:prstGeom>
          <a:solidFill>
            <a:srgbClr val="E6F0FA"/>
          </a:solidFill>
          <a:ln>
            <a:solidFill>
              <a:srgbClr val="29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62A4"/>
                </a:solidFill>
                <a:latin typeface="Meiryo"/>
              </a:defRPr>
            </a:pPr>
            <a:r>
              <a:t>メッセージ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• 数値に基づいた現状把握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• 改善ポイントの特定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1-2. 適正シフトの考え方（STEP0再確認）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11887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定義の確認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「顧客接点時間」と「非顧客接点時間」の明確化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1247120" cy="1188720"/>
          </a:xfrm>
          <a:prstGeom prst="roundRect">
            <a:avLst/>
          </a:prstGeom>
          <a:solidFill>
            <a:srgbClr val="FFE6E6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シフト作成ガイドライン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ガイドラインに沿ったシフト組みができているか？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1-3. 具体的運用基準（シフト）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2011680"/>
          </a:xfrm>
          <a:prstGeom prst="round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在籍5,500名までのクラブは「受」１ライン体制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現場から「厳しい」等の声がある場合 → セーフィー社による再調査を実施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7月調査結果も参照可能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【重要】2月シフトより上記基準を反映してください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2286000" cy="228600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5603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Meiryo"/>
              </a:defRPr>
            </a:pPr>
            <a:r>
              <a:t>標準オペレーション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【2】標準オペレーション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11887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テーマ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早急に対応が必要な実務タスクと期限の指示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1247120" cy="1188720"/>
          </a:xfrm>
          <a:prstGeom prst="roundRect">
            <a:avLst/>
          </a:prstGeom>
          <a:solidFill>
            <a:srgbClr val="FFE6E6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重要度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必須（Must）項目の確認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2-1. スクール人数メンテナンス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2011680"/>
          </a:xfrm>
          <a:prstGeom prst="round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【必達期限】1月末までに「3月クラス」のメンテナンスを完了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対象範囲拡大：テニス・トライネーションも含めて実施を徹底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現状の課題：1月10日時点で未完了のクラブあり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2-2. テニスの運用ルール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1188720"/>
          </a:xfrm>
          <a:prstGeom prst="roundRect">
            <a:avLst/>
          </a:prstGeom>
          <a:solidFill>
            <a:srgbClr val="FFE6E6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プランニングシートの持参必須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1247120" cy="11887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詳細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進級の有無に関わらず、必ず持参が必要となります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2286000" cy="228600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5603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Meiryo"/>
              </a:defRPr>
            </a:pPr>
            <a:r>
              <a:t>現場運用の確認事項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【3】現場運用の確認事項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11887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1E1E"/>
                </a:solidFill>
                <a:latin typeface="Meiryo"/>
              </a:defRPr>
            </a:pPr>
            <a:r>
              <a:t>テーマ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運用開始後におろそかになりがちな情報のキャッチアップとデータ収集の是正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3-1. 情報連携と機器設定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5303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1E1E"/>
                </a:solidFill>
                <a:latin typeface="Meiryo"/>
              </a:defRPr>
            </a:pPr>
            <a:r>
              <a:t>共有メモの確認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• 1勤務1回の確認を徹底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• 情報連携ミスの防止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486400" cy="5303520"/>
          </a:xfrm>
          <a:prstGeom prst="roundRect">
            <a:avLst/>
          </a:prstGeom>
          <a:solidFill>
            <a:srgbClr val="E6F0FA"/>
          </a:solidFill>
          <a:ln>
            <a:solidFill>
              <a:srgbClr val="296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62A4"/>
                </a:solidFill>
                <a:latin typeface="Meiryo"/>
              </a:defRPr>
            </a:pPr>
            <a:r>
              <a:t>ネックスピーカー設定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• 必ず「有線接続」で使用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Meiryo"/>
              </a:defRPr>
            </a:pPr>
            <a:r>
              <a:t>• 正しい音量・接続設定の確認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3-2. データ集約・その他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82880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43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退会理由の集約：正しい集約方法ができているか再確認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82880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掲示板登録：登録漏れがないか確認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【4】帳票格納ルールの標準化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2011680"/>
          </a:xfrm>
          <a:prstGeom prst="round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【格納スケジュール】毎月15日格納の徹底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目的：事務管理コストを下げるための統一ルール運用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追加格納や修正が発生した場合の手順を確認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【5】クラブの声を聴く会・質疑応答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82880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43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現場からの質問、要望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82880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発生しているトラブル事例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182880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  <a:latin typeface="Meiryo"/>
              </a:defRPr>
            </a:pPr>
            <a:r>
              <a:t>運用上の課題や改善提案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182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C81E1E"/>
                </a:solidFill>
                <a:latin typeface="Arial"/>
              </a:rPr>
              <a:t>RENAISSANCE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08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81E1E"/>
                </a:solidFill>
                <a:latin typeface="Meiryo"/>
              </a:defRPr>
            </a:pPr>
            <a:r>
              <a:t>まとめ・次回アクション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2011680"/>
          </a:xfrm>
          <a:prstGeom prst="round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本日の決定事項を確認し、次回までに実行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シフト修正：2月シフトより反映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メンテナンス期限：1月末まで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05050"/>
                </a:solidFill>
                <a:latin typeface="Meiryo"/>
              </a:defRPr>
            </a:pPr>
            <a:r>
              <a:t>✓ 帳票格納：毎月15日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