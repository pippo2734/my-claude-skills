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E60012"/>
                </a:solidFill>
                <a:latin typeface="Arial"/>
              </a:rPr>
              <a:t>Re</a:t>
            </a:r>
            <a:r>
              <a:rPr sz="1800" b="1">
                <a:solidFill>
                  <a:srgbClr val="E60012"/>
                </a:solidFill>
                <a:latin typeface="Arial"/>
              </a:rPr>
              <a:t> RENAISSANCE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560320"/>
            <a:ext cx="10698480" cy="201168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0000"/>
                </a:solidFill>
                <a:latin typeface="Meiryo"/>
              </a:defRPr>
            </a:pPr>
            <a:r>
              <a:t>RURA 12月拡大クラブ</a:t>
            </a:r>
            <a:br/>
            <a:r>
              <a:t>導入1ヶ月フォローアップMTG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404040"/>
                </a:solidFill>
                <a:latin typeface="Meiryo"/>
              </a:defRPr>
            </a:pPr>
            <a:r>
              <a:t>運用状況の確認と標準化に向けたステップ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E60012"/>
                </a:solidFill>
                <a:latin typeface="Arial"/>
              </a:rPr>
              <a:t>Re</a:t>
            </a:r>
            <a:r>
              <a:rPr sz="1800" b="1">
                <a:solidFill>
                  <a:srgbClr val="E60012"/>
                </a:solidFill>
                <a:latin typeface="Arial"/>
              </a:rPr>
              <a:t> RENAISSANCE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9144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Meiryo"/>
              </a:defRPr>
            </a:pPr>
            <a:r>
              <a:t>1. 本MTGの位置付け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47120" cy="3810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2000" b="1">
                <a:solidFill>
                  <a:srgbClr val="E60012"/>
                </a:solidFill>
                <a:latin typeface="Meiryo"/>
              </a:defRPr>
            </a:pPr>
            <a:r>
              <a:t>■ コンセプト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Meiryo"/>
              </a:defRPr>
            </a:pPr>
            <a:r>
              <a:t>  共創スタンスでの情報共有・意見交換の場</a:t>
            </a:r>
          </a:p>
          <a:p>
            <a:pPr>
              <a:spcBef>
                <a:spcPts val="1600"/>
              </a:spcBef>
              <a:defRPr sz="2000" b="1">
                <a:solidFill>
                  <a:srgbClr val="E60012"/>
                </a:solidFill>
                <a:latin typeface="Meiryo"/>
              </a:defRPr>
            </a:pPr>
            <a:r>
              <a:t>■ 主な目的①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Meiryo"/>
              </a:defRPr>
            </a:pPr>
            <a:r>
              <a:t>  STEP0の細分化・確認：キックオフ時の内容を実運用レベルで再確認</a:t>
            </a:r>
          </a:p>
          <a:p>
            <a:pPr>
              <a:spcBef>
                <a:spcPts val="1600"/>
              </a:spcBef>
              <a:defRPr sz="2000" b="1">
                <a:solidFill>
                  <a:srgbClr val="E60012"/>
                </a:solidFill>
                <a:latin typeface="Meiryo"/>
              </a:defRPr>
            </a:pPr>
            <a:r>
              <a:t>■ 主な目的②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Meiryo"/>
              </a:defRPr>
            </a:pPr>
            <a:r>
              <a:t>  「クラブの声を聴く会」：現場の課題や要望を吸い上げる</a:t>
            </a:r>
          </a:p>
          <a:p>
            <a:pPr>
              <a:spcBef>
                <a:spcPts val="1600"/>
              </a:spcBef>
              <a:defRPr sz="2000" b="1">
                <a:solidFill>
                  <a:srgbClr val="E60012"/>
                </a:solidFill>
                <a:latin typeface="Meiryo"/>
              </a:defRPr>
            </a:pPr>
            <a:r>
              <a:t>■ 主な目的③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Meiryo"/>
              </a:defRPr>
            </a:pPr>
            <a:r>
              <a:t>  標準とフィードバック：本部の標準オペレーション提示と、現場からのFBを両輪で回す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E60012"/>
                </a:solidFill>
                <a:latin typeface="Arial"/>
              </a:rPr>
              <a:t>Re</a:t>
            </a:r>
            <a:r>
              <a:rPr sz="1800" b="1">
                <a:solidFill>
                  <a:srgbClr val="E60012"/>
                </a:solidFill>
                <a:latin typeface="Arial"/>
              </a:rPr>
              <a:t> RENAISSANCE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9144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Meiryo"/>
              </a:defRPr>
            </a:pPr>
            <a:r>
              <a:t>2. 本日のゴール（終了時の状態）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47120" cy="3810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2000" b="1">
                <a:solidFill>
                  <a:srgbClr val="E60012"/>
                </a:solidFill>
                <a:latin typeface="Meiryo"/>
              </a:defRPr>
            </a:pPr>
            <a:r>
              <a:t>■ 決定事項のコミット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Meiryo"/>
              </a:defRPr>
            </a:pPr>
            <a:r>
              <a:t>  決定事項に基づき、「2月の行動計画（シフト修正案含む）」が提出され、</a:t>
            </a:r>
            <a:br/>
            <a:r>
              <a:t>コミットメントが得られている状態を目指す</a:t>
            </a:r>
          </a:p>
          <a:p>
            <a:pPr>
              <a:spcBef>
                <a:spcPts val="1600"/>
              </a:spcBef>
              <a:defRPr sz="2000" b="1">
                <a:solidFill>
                  <a:srgbClr val="E60012"/>
                </a:solidFill>
                <a:latin typeface="Meiryo"/>
              </a:defRPr>
            </a:pPr>
            <a:r>
              <a:t>■ 実施目的①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Meiryo"/>
              </a:defRPr>
            </a:pPr>
            <a:r>
              <a:t>  シフト適正化の履行：「適正シフト」の定義を理解し、</a:t>
            </a:r>
            <a:br/>
            <a:r>
              <a:t>次月以降の作成フロー変更を合意する</a:t>
            </a:r>
          </a:p>
          <a:p>
            <a:pPr>
              <a:spcBef>
                <a:spcPts val="1600"/>
              </a:spcBef>
              <a:defRPr sz="2000" b="1">
                <a:solidFill>
                  <a:srgbClr val="E60012"/>
                </a:solidFill>
                <a:latin typeface="Meiryo"/>
              </a:defRPr>
            </a:pPr>
            <a:r>
              <a:t>■ 実施目的②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Meiryo"/>
              </a:defRPr>
            </a:pPr>
            <a:r>
              <a:t>  標準ルールの適用：統一ルール（1/15決定事項）の</a:t>
            </a:r>
            <a:br/>
            <a:r>
              <a:t>認識ズレ（自己流）を解消する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E60012"/>
                </a:solidFill>
                <a:latin typeface="Arial"/>
              </a:rPr>
              <a:t>Re</a:t>
            </a:r>
            <a:r>
              <a:rPr sz="1800" b="1">
                <a:solidFill>
                  <a:srgbClr val="E60012"/>
                </a:solidFill>
                <a:latin typeface="Arial"/>
              </a:rPr>
              <a:t> RENAISSANCE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9144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Meiryo"/>
              </a:defRPr>
            </a:pPr>
            <a:r>
              <a:t>3. アジェンダ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47120" cy="3810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41732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000000"/>
                </a:solidFill>
                <a:latin typeface="Meiryo"/>
              </a:defRPr>
            </a:pPr>
            <a:r>
              <a:t>RURA導入ステップ（STEP0）の確認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103120"/>
            <a:ext cx="457200" cy="45720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148839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148839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000000"/>
                </a:solidFill>
                <a:latin typeface="Meiryo"/>
              </a:defRPr>
            </a:pPr>
            <a:r>
              <a:t>標準オペレーションの徹底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2834640"/>
            <a:ext cx="457200" cy="45720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8803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88036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000000"/>
                </a:solidFill>
                <a:latin typeface="Meiryo"/>
              </a:defRPr>
            </a:pPr>
            <a:r>
              <a:t>現場運用の確認事項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3566160"/>
            <a:ext cx="457200" cy="45720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61188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61188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000000"/>
                </a:solidFill>
                <a:latin typeface="Meiryo"/>
              </a:defRPr>
            </a:pPr>
            <a:r>
              <a:t>帳票格納ルールの標準化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297680"/>
            <a:ext cx="457200" cy="45720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3434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4340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000000"/>
                </a:solidFill>
                <a:latin typeface="Meiryo"/>
              </a:defRPr>
            </a:pPr>
            <a:r>
              <a:t>クラブの声を聴く会・質疑応答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E60012"/>
                </a:solidFill>
                <a:latin typeface="Arial"/>
              </a:rPr>
              <a:t>Re</a:t>
            </a:r>
            <a:r>
              <a:rPr sz="1800" b="1">
                <a:solidFill>
                  <a:srgbClr val="E60012"/>
                </a:solidFill>
                <a:latin typeface="Arial"/>
              </a:rPr>
              <a:t> RENAISSANCE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2743200"/>
            <a:ext cx="9418320" cy="13716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880360"/>
            <a:ext cx="94183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000000"/>
                </a:solidFill>
                <a:latin typeface="Meiryo"/>
              </a:defRPr>
            </a:pPr>
            <a:r>
              <a:t>【1】RURA導入ステップ（STEP0）の確認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E60012"/>
                </a:solidFill>
                <a:latin typeface="Arial"/>
              </a:rPr>
              <a:t>Re</a:t>
            </a:r>
            <a:r>
              <a:rPr sz="1800" b="1">
                <a:solidFill>
                  <a:srgbClr val="E60012"/>
                </a:solidFill>
                <a:latin typeface="Arial"/>
              </a:rPr>
              <a:t> RENAISSANCE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9144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Meiryo"/>
              </a:defRPr>
            </a:pPr>
            <a:r>
              <a:t>【1】RURA導入ステップ（STEP0）の確認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47120" cy="3810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2000" b="1">
                <a:solidFill>
                  <a:srgbClr val="E60012"/>
                </a:solidFill>
                <a:latin typeface="Meiryo"/>
              </a:defRPr>
            </a:pPr>
            <a:r>
              <a:t>■ テーマ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Meiryo"/>
              </a:defRPr>
            </a:pPr>
            <a:r>
              <a:t>  運用の土台となる「誘導」と「時間の使い方」についての認識合わせ</a:t>
            </a:r>
          </a:p>
          <a:p>
            <a:pPr>
              <a:spcBef>
                <a:spcPts val="1600"/>
              </a:spcBef>
              <a:defRPr sz="2000" b="1">
                <a:solidFill>
                  <a:srgbClr val="E60012"/>
                </a:solidFill>
                <a:latin typeface="Meiryo"/>
              </a:defRPr>
            </a:pPr>
            <a:r>
              <a:t>■ ポイント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Meiryo"/>
              </a:defRPr>
            </a:pPr>
            <a:r>
              <a:t>  キックオフ時のSTEP0をより解像度を上げて確認します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E60012"/>
                </a:solidFill>
                <a:latin typeface="Arial"/>
              </a:rPr>
              <a:t>Re</a:t>
            </a:r>
            <a:r>
              <a:rPr sz="1800" b="1">
                <a:solidFill>
                  <a:srgbClr val="E60012"/>
                </a:solidFill>
                <a:latin typeface="Arial"/>
              </a:rPr>
              <a:t> RENAISSANCE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9144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Meiryo"/>
              </a:defRPr>
            </a:pPr>
            <a:r>
              <a:t>1-1. 誘導率の振り返り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47120" cy="3810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2000" b="1">
                <a:solidFill>
                  <a:srgbClr val="E60012"/>
                </a:solidFill>
                <a:latin typeface="Meiryo"/>
              </a:defRPr>
            </a:pPr>
            <a:r>
              <a:t>■ 現状共有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Meiryo"/>
              </a:defRPr>
            </a:pPr>
            <a:r>
              <a:t>  </a:t>
            </a:r>
          </a:p>
          <a:p>
            <a:pPr>
              <a:spcBef>
                <a:spcPts val="1200"/>
              </a:spcBef>
              <a:defRPr sz="2000" b="1">
                <a:solidFill>
                  <a:srgbClr val="000000"/>
                </a:solidFill>
                <a:latin typeface="Meiryo"/>
              </a:defRPr>
            </a:pPr>
          </a:p>
          <a:p>
            <a:pPr lvl="1">
              <a:spcBef>
                <a:spcPts val="600"/>
              </a:spcBef>
              <a:defRPr sz="1800">
                <a:solidFill>
                  <a:srgbClr val="000000"/>
                </a:solidFill>
                <a:latin typeface="Meiryo"/>
              </a:defRPr>
            </a:pPr>
            <a:r>
              <a:t>• 12月誘導率の実績</a:t>
            </a:r>
          </a:p>
          <a:p>
            <a:pPr lvl="1">
              <a:spcBef>
                <a:spcPts val="600"/>
              </a:spcBef>
              <a:defRPr sz="1800">
                <a:solidFill>
                  <a:srgbClr val="000000"/>
                </a:solidFill>
                <a:latin typeface="Meiryo"/>
              </a:defRPr>
            </a:pPr>
            <a:r>
              <a:t>• 1月誘導率の進捗</a:t>
            </a:r>
          </a:p>
          <a:p>
            <a:pPr>
              <a:spcBef>
                <a:spcPts val="1600"/>
              </a:spcBef>
              <a:defRPr sz="2000" b="1">
                <a:solidFill>
                  <a:srgbClr val="E60012"/>
                </a:solidFill>
                <a:latin typeface="Meiryo"/>
              </a:defRPr>
            </a:pPr>
            <a:r>
              <a:t>■ メッセージ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Meiryo"/>
              </a:defRPr>
            </a:pPr>
            <a:r>
              <a:t>  数値に基づいた現状把握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E60012"/>
                </a:solidFill>
                <a:latin typeface="Arial"/>
              </a:rPr>
              <a:t>Re</a:t>
            </a:r>
            <a:r>
              <a:rPr sz="1800" b="1">
                <a:solidFill>
                  <a:srgbClr val="E60012"/>
                </a:solidFill>
                <a:latin typeface="Arial"/>
              </a:rPr>
              <a:t> RENAISSANCE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9144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Meiryo"/>
              </a:defRPr>
            </a:pPr>
            <a:r>
              <a:t>1-2. 適正シフトの考え方（STEP0再確認）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47120" cy="3810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2000" b="1">
                <a:solidFill>
                  <a:srgbClr val="E60012"/>
                </a:solidFill>
                <a:latin typeface="Meiryo"/>
              </a:defRPr>
            </a:pPr>
            <a:r>
              <a:t>■ 定義の確認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Meiryo"/>
              </a:defRPr>
            </a:pPr>
            <a:r>
              <a:t>  「顧客接点時間」と「非顧客接点時間」の明確化</a:t>
            </a:r>
          </a:p>
          <a:p>
            <a:pPr>
              <a:spcBef>
                <a:spcPts val="1600"/>
              </a:spcBef>
              <a:defRPr sz="2000" b="1">
                <a:solidFill>
                  <a:srgbClr val="E60012"/>
                </a:solidFill>
                <a:latin typeface="Meiryo"/>
              </a:defRPr>
            </a:pPr>
            <a:r>
              <a:t>■ シフト作成ガイドラインの活用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Meiryo"/>
              </a:defRPr>
            </a:pPr>
            <a:r>
              <a:t>  ガイドラインに沿ったシフト組みができているか？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E60012"/>
                </a:solidFill>
                <a:latin typeface="Arial"/>
              </a:rPr>
              <a:t>Re</a:t>
            </a:r>
            <a:r>
              <a:rPr sz="1800" b="1">
                <a:solidFill>
                  <a:srgbClr val="E60012"/>
                </a:solidFill>
                <a:latin typeface="Arial"/>
              </a:rPr>
              <a:t> RENAISSANCE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9144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Meiryo"/>
              </a:defRPr>
            </a:pPr>
            <a:r>
              <a:t>1-3. 具体的運用基準（シフト）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47120" cy="3810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2000" b="1">
                <a:solidFill>
                  <a:srgbClr val="E60012"/>
                </a:solidFill>
                <a:latin typeface="Meiryo"/>
              </a:defRPr>
            </a:pPr>
            <a:r>
              <a:t>■ 基準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Meiryo"/>
              </a:defRPr>
            </a:pPr>
            <a:r>
              <a:t>  在籍5,500名までのクラブは、「受」１ライン体制</a:t>
            </a:r>
          </a:p>
          <a:p>
            <a:pPr>
              <a:spcBef>
                <a:spcPts val="1600"/>
              </a:spcBef>
              <a:defRPr sz="2000" b="1">
                <a:solidFill>
                  <a:srgbClr val="E60012"/>
                </a:solidFill>
                <a:latin typeface="Meiryo"/>
              </a:defRPr>
            </a:pPr>
            <a:r>
              <a:t>■ 対応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Meiryo"/>
              </a:defRPr>
            </a:pPr>
            <a:r>
              <a:t>  現場から「厳しい」等の声がある場合は、</a:t>
            </a:r>
            <a:br/>
            <a:r>
              <a:t>セーフィー社による再調査を実施（7月調査結果も参照可）</a:t>
            </a:r>
          </a:p>
          <a:p>
            <a:pPr>
              <a:spcBef>
                <a:spcPts val="1600"/>
              </a:spcBef>
              <a:defRPr sz="2000" b="1">
                <a:solidFill>
                  <a:srgbClr val="E60012"/>
                </a:solidFill>
                <a:latin typeface="Meiryo"/>
              </a:defRPr>
            </a:pPr>
            <a:r>
              <a:t>■ アクション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Meiryo"/>
              </a:defRPr>
            </a:pPr>
            <a:r>
              <a:t>  【重要】2月シフトより上記基準を反映してください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E60012"/>
                </a:solidFill>
                <a:latin typeface="Arial"/>
              </a:rPr>
              <a:t>Re</a:t>
            </a:r>
            <a:r>
              <a:rPr sz="1800" b="1">
                <a:solidFill>
                  <a:srgbClr val="E60012"/>
                </a:solidFill>
                <a:latin typeface="Arial"/>
              </a:rPr>
              <a:t> RENAISSANCE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2743200"/>
            <a:ext cx="9418320" cy="13716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880360"/>
            <a:ext cx="94183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000000"/>
                </a:solidFill>
                <a:latin typeface="Meiryo"/>
              </a:defRPr>
            </a:pPr>
            <a:r>
              <a:t>【2】標準オペレーション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E60012"/>
                </a:solidFill>
                <a:latin typeface="Arial"/>
              </a:rPr>
              <a:t>Re</a:t>
            </a:r>
            <a:r>
              <a:rPr sz="1800" b="1">
                <a:solidFill>
                  <a:srgbClr val="E60012"/>
                </a:solidFill>
                <a:latin typeface="Arial"/>
              </a:rPr>
              <a:t> RENAISSANCE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9144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Meiryo"/>
              </a:defRPr>
            </a:pPr>
            <a:r>
              <a:t>【2】標準オペレーション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47120" cy="3810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2000" b="1">
                <a:solidFill>
                  <a:srgbClr val="E60012"/>
                </a:solidFill>
                <a:latin typeface="Meiryo"/>
              </a:defRPr>
            </a:pPr>
            <a:r>
              <a:t>■ テーマ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Meiryo"/>
              </a:defRPr>
            </a:pPr>
            <a:r>
              <a:t>  早急に対応が必要な実務タスクと期限の指示</a:t>
            </a:r>
          </a:p>
          <a:p>
            <a:pPr>
              <a:spcBef>
                <a:spcPts val="1600"/>
              </a:spcBef>
              <a:defRPr sz="2000" b="1">
                <a:solidFill>
                  <a:srgbClr val="E60012"/>
                </a:solidFill>
                <a:latin typeface="Meiryo"/>
              </a:defRPr>
            </a:pPr>
            <a:r>
              <a:t>■ 重要度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Meiryo"/>
              </a:defRPr>
            </a:pPr>
            <a:r>
              <a:t>  必須（Must）項目の確認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E60012"/>
                </a:solidFill>
                <a:latin typeface="Arial"/>
              </a:rPr>
              <a:t>Re</a:t>
            </a:r>
            <a:r>
              <a:rPr sz="1800" b="1">
                <a:solidFill>
                  <a:srgbClr val="E60012"/>
                </a:solidFill>
                <a:latin typeface="Arial"/>
              </a:rPr>
              <a:t> RENAISSANCE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9144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Meiryo"/>
              </a:defRPr>
            </a:pPr>
            <a:r>
              <a:t>2-1. スクール人数メンテナンス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47120" cy="3810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2000" b="1">
                <a:solidFill>
                  <a:srgbClr val="E60012"/>
                </a:solidFill>
                <a:latin typeface="Meiryo"/>
              </a:defRPr>
            </a:pPr>
            <a:r>
              <a:t>■ 対象範囲拡大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Meiryo"/>
              </a:defRPr>
            </a:pPr>
            <a:r>
              <a:t>  テニス・トライネーションも含めて実施を徹底</a:t>
            </a:r>
          </a:p>
          <a:p>
            <a:pPr>
              <a:spcBef>
                <a:spcPts val="1600"/>
              </a:spcBef>
              <a:defRPr sz="2000" b="1">
                <a:solidFill>
                  <a:srgbClr val="E60012"/>
                </a:solidFill>
                <a:latin typeface="Meiryo"/>
              </a:defRPr>
            </a:pPr>
            <a:r>
              <a:t>■ 現状の課題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Meiryo"/>
              </a:defRPr>
            </a:pPr>
            <a:r>
              <a:t>  1月10日時点で未完了のクラブあり（該当クラブへの注意喚起）</a:t>
            </a:r>
          </a:p>
          <a:p>
            <a:pPr>
              <a:spcBef>
                <a:spcPts val="1600"/>
              </a:spcBef>
              <a:defRPr sz="2000" b="1">
                <a:solidFill>
                  <a:srgbClr val="E60012"/>
                </a:solidFill>
                <a:latin typeface="Meiryo"/>
              </a:defRPr>
            </a:pPr>
            <a:r>
              <a:t>■ 必達期限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Meiryo"/>
              </a:defRPr>
            </a:pPr>
            <a:r>
              <a:t>  【重要】1月末までに「3月クラス」のメンテナンスを完了させること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E60012"/>
                </a:solidFill>
                <a:latin typeface="Arial"/>
              </a:rPr>
              <a:t>Re</a:t>
            </a:r>
            <a:r>
              <a:rPr sz="1800" b="1">
                <a:solidFill>
                  <a:srgbClr val="E60012"/>
                </a:solidFill>
                <a:latin typeface="Arial"/>
              </a:rPr>
              <a:t> RENAISSANCE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9144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Meiryo"/>
              </a:defRPr>
            </a:pPr>
            <a:r>
              <a:t>2-2. テニスの運用ルール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47120" cy="3810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2000" b="1">
                <a:solidFill>
                  <a:srgbClr val="E60012"/>
                </a:solidFill>
                <a:latin typeface="Meiryo"/>
              </a:defRPr>
            </a:pPr>
            <a:r>
              <a:t>■ ルール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Meiryo"/>
              </a:defRPr>
            </a:pPr>
            <a:r>
              <a:t>  プランニングシートの持参必須</a:t>
            </a:r>
          </a:p>
          <a:p>
            <a:pPr>
              <a:spcBef>
                <a:spcPts val="1600"/>
              </a:spcBef>
              <a:defRPr sz="2000" b="1">
                <a:solidFill>
                  <a:srgbClr val="E60012"/>
                </a:solidFill>
                <a:latin typeface="Meiryo"/>
              </a:defRPr>
            </a:pPr>
            <a:r>
              <a:t>■ 詳細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Meiryo"/>
              </a:defRPr>
            </a:pPr>
            <a:r>
              <a:t>  進級の有無に関わらず、必ず持参が必要となります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E60012"/>
                </a:solidFill>
                <a:latin typeface="Arial"/>
              </a:rPr>
              <a:t>Re</a:t>
            </a:r>
            <a:r>
              <a:rPr sz="1800" b="1">
                <a:solidFill>
                  <a:srgbClr val="E60012"/>
                </a:solidFill>
                <a:latin typeface="Arial"/>
              </a:rPr>
              <a:t> RENAISSANCE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2743200"/>
            <a:ext cx="9418320" cy="13716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880360"/>
            <a:ext cx="94183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000000"/>
                </a:solidFill>
                <a:latin typeface="Meiryo"/>
              </a:defRPr>
            </a:pPr>
            <a:r>
              <a:t>【3】現場運用の確認事項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E60012"/>
                </a:solidFill>
                <a:latin typeface="Arial"/>
              </a:rPr>
              <a:t>Re</a:t>
            </a:r>
            <a:r>
              <a:rPr sz="1800" b="1">
                <a:solidFill>
                  <a:srgbClr val="E60012"/>
                </a:solidFill>
                <a:latin typeface="Arial"/>
              </a:rPr>
              <a:t> RENAISSANCE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9144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Meiryo"/>
              </a:defRPr>
            </a:pPr>
            <a:r>
              <a:t>【3】現場運用の確認事項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47120" cy="3810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2000" b="1">
                <a:solidFill>
                  <a:srgbClr val="E60012"/>
                </a:solidFill>
                <a:latin typeface="Meiryo"/>
              </a:defRPr>
            </a:pPr>
            <a:r>
              <a:t>■ テーマ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Meiryo"/>
              </a:defRPr>
            </a:pPr>
            <a:r>
              <a:t>  運用開始後におろそかになりがちな情報のキャッチアップとデータ収集の是正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E60012"/>
                </a:solidFill>
                <a:latin typeface="Arial"/>
              </a:rPr>
              <a:t>Re</a:t>
            </a:r>
            <a:r>
              <a:rPr sz="1800" b="1">
                <a:solidFill>
                  <a:srgbClr val="E60012"/>
                </a:solidFill>
                <a:latin typeface="Arial"/>
              </a:rPr>
              <a:t> RENAISSANCE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9144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Meiryo"/>
              </a:defRPr>
            </a:pPr>
            <a:r>
              <a:t>3-1. 情報連携と機器設定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47120" cy="3810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2000" b="1">
                <a:solidFill>
                  <a:srgbClr val="E60012"/>
                </a:solidFill>
                <a:latin typeface="Meiryo"/>
              </a:defRPr>
            </a:pPr>
            <a:r>
              <a:t>■ 共有メモの確認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Meiryo"/>
              </a:defRPr>
            </a:pPr>
            <a:r>
              <a:t>  1勤務1回の確認を徹底（情報連携ミスの防止）</a:t>
            </a:r>
          </a:p>
          <a:p>
            <a:pPr>
              <a:spcBef>
                <a:spcPts val="1600"/>
              </a:spcBef>
              <a:defRPr sz="2000" b="1">
                <a:solidFill>
                  <a:srgbClr val="E60012"/>
                </a:solidFill>
                <a:latin typeface="Meiryo"/>
              </a:defRPr>
            </a:pPr>
            <a:r>
              <a:t>■ ネックスピーカー設定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Meiryo"/>
              </a:defRPr>
            </a:pPr>
            <a:r>
              <a:t>  </a:t>
            </a:r>
          </a:p>
          <a:p>
            <a:pPr>
              <a:spcBef>
                <a:spcPts val="1200"/>
              </a:spcBef>
              <a:defRPr sz="2000" b="1">
                <a:solidFill>
                  <a:srgbClr val="000000"/>
                </a:solidFill>
                <a:latin typeface="Meiryo"/>
              </a:defRPr>
            </a:pPr>
          </a:p>
          <a:p>
            <a:pPr lvl="1">
              <a:spcBef>
                <a:spcPts val="600"/>
              </a:spcBef>
              <a:defRPr sz="1800">
                <a:solidFill>
                  <a:srgbClr val="000000"/>
                </a:solidFill>
                <a:latin typeface="Meiryo"/>
              </a:defRPr>
            </a:pPr>
            <a:r>
              <a:t>• 必ず「有線接続」で使用すること</a:t>
            </a:r>
          </a:p>
          <a:p>
            <a:pPr lvl="1">
              <a:spcBef>
                <a:spcPts val="600"/>
              </a:spcBef>
              <a:defRPr sz="1800">
                <a:solidFill>
                  <a:srgbClr val="000000"/>
                </a:solidFill>
                <a:latin typeface="Meiryo"/>
              </a:defRPr>
            </a:pPr>
            <a:r>
              <a:t>• 正しい音量・接続設定の確認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E60012"/>
                </a:solidFill>
                <a:latin typeface="Arial"/>
              </a:rPr>
              <a:t>Re</a:t>
            </a:r>
            <a:r>
              <a:rPr sz="1800" b="1">
                <a:solidFill>
                  <a:srgbClr val="E60012"/>
                </a:solidFill>
                <a:latin typeface="Arial"/>
              </a:rPr>
              <a:t> RENAISSANCE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9144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Meiryo"/>
              </a:defRPr>
            </a:pPr>
            <a:r>
              <a:t>3-2. データ集約・その他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47120" cy="3810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2000" b="1">
                <a:solidFill>
                  <a:srgbClr val="E60012"/>
                </a:solidFill>
                <a:latin typeface="Meiryo"/>
              </a:defRPr>
            </a:pPr>
            <a:r>
              <a:t>■ 退会理由の集約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Meiryo"/>
              </a:defRPr>
            </a:pPr>
            <a:r>
              <a:t>  正しい集約方法ができているか再確認</a:t>
            </a:r>
          </a:p>
          <a:p>
            <a:pPr>
              <a:spcBef>
                <a:spcPts val="1600"/>
              </a:spcBef>
              <a:defRPr sz="2000" b="1">
                <a:solidFill>
                  <a:srgbClr val="E60012"/>
                </a:solidFill>
                <a:latin typeface="Meiryo"/>
              </a:defRPr>
            </a:pPr>
            <a:r>
              <a:t>■ 掲示板登録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Meiryo"/>
              </a:defRPr>
            </a:pPr>
            <a:r>
              <a:t>  登録漏れがないか確認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E60012"/>
                </a:solidFill>
                <a:latin typeface="Arial"/>
              </a:rPr>
              <a:t>Re</a:t>
            </a:r>
            <a:r>
              <a:rPr sz="1800" b="1">
                <a:solidFill>
                  <a:srgbClr val="E60012"/>
                </a:solidFill>
                <a:latin typeface="Arial"/>
              </a:rPr>
              <a:t> RENAISSANCE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9144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Meiryo"/>
              </a:defRPr>
            </a:pPr>
            <a:r>
              <a:t>【4】帳票格納ルールの標準化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47120" cy="3810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2000" b="1">
                <a:solidFill>
                  <a:srgbClr val="E60012"/>
                </a:solidFill>
                <a:latin typeface="Meiryo"/>
              </a:defRPr>
            </a:pPr>
            <a:r>
              <a:t>■ 目的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Meiryo"/>
              </a:defRPr>
            </a:pPr>
            <a:r>
              <a:t>  事務管理コストを下げるための統一ルール運用</a:t>
            </a:r>
          </a:p>
          <a:p>
            <a:pPr>
              <a:spcBef>
                <a:spcPts val="1600"/>
              </a:spcBef>
              <a:defRPr sz="2000" b="1">
                <a:solidFill>
                  <a:srgbClr val="E60012"/>
                </a:solidFill>
                <a:latin typeface="Meiryo"/>
              </a:defRPr>
            </a:pPr>
            <a:r>
              <a:t>■ 格納スケジュール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Meiryo"/>
              </a:defRPr>
            </a:pPr>
            <a:r>
              <a:t>  【重要】毎月15日格納の徹底</a:t>
            </a:r>
          </a:p>
          <a:p>
            <a:pPr>
              <a:spcBef>
                <a:spcPts val="1600"/>
              </a:spcBef>
              <a:defRPr sz="2000" b="1">
                <a:solidFill>
                  <a:srgbClr val="E60012"/>
                </a:solidFill>
                <a:latin typeface="Meiryo"/>
              </a:defRPr>
            </a:pPr>
            <a:r>
              <a:t>■ 運用ルール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Meiryo"/>
              </a:defRPr>
            </a:pPr>
            <a:r>
              <a:t>  追加格納や修正が発生した場合の手順について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E60012"/>
                </a:solidFill>
                <a:latin typeface="Arial"/>
              </a:rPr>
              <a:t>Re</a:t>
            </a:r>
            <a:r>
              <a:rPr sz="1800" b="1">
                <a:solidFill>
                  <a:srgbClr val="E60012"/>
                </a:solidFill>
                <a:latin typeface="Arial"/>
              </a:rPr>
              <a:t> RENAISSANCE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9144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Meiryo"/>
              </a:defRPr>
            </a:pPr>
            <a:r>
              <a:t>【5】クラブの声を聴く会・質疑応答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47120" cy="3810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2000" b="1">
                <a:solidFill>
                  <a:srgbClr val="E60012"/>
                </a:solidFill>
                <a:latin typeface="Meiryo"/>
              </a:defRPr>
            </a:pPr>
            <a:r>
              <a:t>■ スタンス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Meiryo"/>
              </a:defRPr>
            </a:pPr>
            <a:r>
              <a:t>  共創的な課題解決</a:t>
            </a:r>
          </a:p>
          <a:p>
            <a:pPr>
              <a:spcBef>
                <a:spcPts val="1600"/>
              </a:spcBef>
              <a:defRPr sz="2000" b="1">
                <a:solidFill>
                  <a:srgbClr val="E60012"/>
                </a:solidFill>
                <a:latin typeface="Meiryo"/>
              </a:defRPr>
            </a:pPr>
            <a:r>
              <a:t>■ ヒアリング内容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Meiryo"/>
              </a:defRPr>
            </a:pPr>
            <a:r>
              <a:t>  </a:t>
            </a:r>
          </a:p>
          <a:p>
            <a:pPr>
              <a:spcBef>
                <a:spcPts val="1200"/>
              </a:spcBef>
              <a:defRPr sz="2000" b="1">
                <a:solidFill>
                  <a:srgbClr val="000000"/>
                </a:solidFill>
                <a:latin typeface="Meiryo"/>
              </a:defRPr>
            </a:pPr>
          </a:p>
          <a:p>
            <a:pPr lvl="1">
              <a:spcBef>
                <a:spcPts val="600"/>
              </a:spcBef>
              <a:defRPr sz="1800">
                <a:solidFill>
                  <a:srgbClr val="000000"/>
                </a:solidFill>
                <a:latin typeface="Meiryo"/>
              </a:defRPr>
            </a:pPr>
            <a:r>
              <a:t>• 現場からの質問、要望</a:t>
            </a:r>
          </a:p>
          <a:p>
            <a:pPr lvl="1">
              <a:spcBef>
                <a:spcPts val="600"/>
              </a:spcBef>
              <a:defRPr sz="1800">
                <a:solidFill>
                  <a:srgbClr val="000000"/>
                </a:solidFill>
                <a:latin typeface="Meiryo"/>
              </a:defRPr>
            </a:pPr>
            <a:r>
              <a:t>• 発生しているトラブル事例</a:t>
            </a:r>
          </a:p>
          <a:p>
            <a:pPr lvl="1">
              <a:spcBef>
                <a:spcPts val="600"/>
              </a:spcBef>
              <a:defRPr sz="1800">
                <a:solidFill>
                  <a:srgbClr val="000000"/>
                </a:solidFill>
                <a:latin typeface="Meiryo"/>
              </a:defRPr>
            </a:pPr>
            <a:r>
              <a:t>• 運用上の課題や改善提案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E60012"/>
                </a:solidFill>
                <a:latin typeface="Arial"/>
              </a:rPr>
              <a:t>Re</a:t>
            </a:r>
            <a:r>
              <a:rPr sz="1800" b="1">
                <a:solidFill>
                  <a:srgbClr val="E60012"/>
                </a:solidFill>
                <a:latin typeface="Arial"/>
              </a:rPr>
              <a:t> RENAISSANCE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9144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Meiryo"/>
              </a:defRPr>
            </a:pPr>
            <a:r>
              <a:t>まとめ・次回アクション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47120" cy="38100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 b="0">
                <a:solidFill>
                  <a:srgbClr val="000000"/>
                </a:solidFill>
                <a:latin typeface="Meiryo"/>
              </a:defRPr>
            </a:pPr>
            <a:r>
              <a:t>• 本日の決定事項の振り返り</a:t>
            </a:r>
          </a:p>
          <a:p>
            <a:pPr>
              <a:spcBef>
                <a:spcPts val="800"/>
              </a:spcBef>
              <a:defRPr sz="1800" b="0">
                <a:solidFill>
                  <a:srgbClr val="000000"/>
                </a:solidFill>
                <a:latin typeface="Meiryo"/>
              </a:defRPr>
            </a:pPr>
            <a:r>
              <a:t>• 次回までのToDo確認</a:t>
            </a:r>
          </a:p>
          <a:p>
            <a:pPr>
              <a:spcBef>
                <a:spcPts val="1200"/>
              </a:spcBef>
              <a:defRPr sz="2000" b="1">
                <a:solidFill>
                  <a:srgbClr val="E60012"/>
                </a:solidFill>
                <a:latin typeface="Meiryo"/>
              </a:defRPr>
            </a:pPr>
            <a:r>
              <a:t>特に重要な期限</a:t>
            </a:r>
          </a:p>
          <a:p>
            <a:pPr lvl="1">
              <a:spcBef>
                <a:spcPts val="600"/>
              </a:spcBef>
              <a:defRPr sz="1800">
                <a:solidFill>
                  <a:srgbClr val="000000"/>
                </a:solidFill>
                <a:latin typeface="Meiryo"/>
              </a:defRPr>
            </a:pPr>
            <a:r>
              <a:t>• シフト修正：2月シフトより反映</a:t>
            </a:r>
          </a:p>
          <a:p>
            <a:pPr lvl="1">
              <a:spcBef>
                <a:spcPts val="600"/>
              </a:spcBef>
              <a:defRPr sz="1800">
                <a:solidFill>
                  <a:srgbClr val="000000"/>
                </a:solidFill>
                <a:latin typeface="Meiryo"/>
              </a:defRPr>
            </a:pPr>
            <a:r>
              <a:t>• メンテナンス期限：1月末まで</a:t>
            </a:r>
          </a:p>
          <a:p>
            <a:pPr lvl="1">
              <a:spcBef>
                <a:spcPts val="600"/>
              </a:spcBef>
              <a:defRPr sz="1800">
                <a:solidFill>
                  <a:srgbClr val="000000"/>
                </a:solidFill>
                <a:latin typeface="Meiryo"/>
              </a:defRPr>
            </a:pPr>
            <a:r>
              <a:t>• 帳票格納：毎月15日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